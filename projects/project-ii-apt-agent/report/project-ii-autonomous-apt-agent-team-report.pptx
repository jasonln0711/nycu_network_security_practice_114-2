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2011680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500" b="1">
                <a:solidFill>
                  <a:srgbClr val="14A3B1"/>
                </a:solidFill>
                <a:latin typeface="Aptos"/>
              </a:rPr>
              <a:t>Project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7863840" cy="7498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3400" b="1">
                <a:solidFill>
                  <a:srgbClr val="122237"/>
                </a:solidFill>
                <a:latin typeface="Aptos"/>
              </a:rPr>
              <a:t>Autonomous APT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603504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400" b="0">
                <a:solidFill>
                  <a:srgbClr val="5B656F"/>
                </a:solidFill>
                <a:latin typeface="Aptos"/>
              </a:rPr>
              <a:t>Network Security Practice - Attack and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76272"/>
            <a:ext cx="6492240" cy="292608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300" b="0">
                <a:solidFill>
                  <a:srgbClr val="1C2024"/>
                </a:solidFill>
                <a:latin typeface="Aptos"/>
              </a:rPr>
              <a:t>Team: 313264012 Chen Jingzhong / 513559004 Lin Jiasheng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926080"/>
            <a:ext cx="3840480" cy="98755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CE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122237"/>
                </a:solidFill>
                <a:latin typeface="Aptos"/>
              </a:rPr>
              <a:t>Two-person group package
/exploit + /triage + success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926080"/>
            <a:ext cx="3886200" cy="987552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95D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800" b="1">
                <a:solidFill>
                  <a:srgbClr val="1F8956"/>
                </a:solidFill>
                <a:latin typeface="Aptos"/>
              </a:rPr>
              <a:t>Result
/shared/success.txt created in bounded lab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2926080"/>
            <a:ext cx="2423160" cy="987552"/>
          </a:xfrm>
          <a:prstGeom prst="roundRect">
            <a:avLst/>
          </a:prstGeom>
          <a:solidFill>
            <a:srgbClr val="EFF4FC"/>
          </a:solidFill>
          <a:ln w="15240">
            <a:solidFill>
              <a:srgbClr val="9AB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Scope
Course Docker lab and shared volume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00600"/>
            <a:ext cx="1234440" cy="530352"/>
          </a:xfrm>
          <a:prstGeom prst="roundRect">
            <a:avLst/>
          </a:prstGeom>
          <a:solidFill>
            <a:srgbClr val="E8F1FC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4800600"/>
            <a:ext cx="1554480" cy="530352"/>
          </a:xfrm>
          <a:prstGeom prst="roundRect">
            <a:avLst/>
          </a:prstGeom>
          <a:solidFill>
            <a:srgbClr val="F8F3E1"/>
          </a:solidFill>
          <a:ln w="15240">
            <a:solidFill>
              <a:srgbClr val="DB9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DB9229"/>
                </a:solidFill>
                <a:latin typeface="Aptos"/>
              </a:rPr>
              <a:t>/shared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4800600"/>
            <a:ext cx="1645920" cy="530352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8956"/>
                </a:solidFill>
                <a:latin typeface="Aptos"/>
              </a:rPr>
              <a:t>IC / blogic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5065776"/>
            <a:ext cx="201168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29400" y="5065776"/>
            <a:ext cx="192024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22237"/>
                </a:solidFill>
                <a:latin typeface="Aptos"/>
              </a:rPr>
              <a:t>Assignment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The grading loop is the contract.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417320" cy="658368"/>
          </a:xfrm>
          <a:prstGeom prst="roundRect">
            <a:avLst/>
          </a:prstGeom>
          <a:solidFill>
            <a:srgbClr val="E8F1FC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700" b="1">
                <a:solidFill>
                  <a:srgbClr val="276FBF"/>
                </a:solidFill>
                <a:latin typeface="Aptos"/>
              </a:rPr>
              <a:t>1
/exploit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45920"/>
            <a:ext cx="1828800" cy="1024128"/>
          </a:xfrm>
          <a:prstGeom prst="roundRect">
            <a:avLst/>
          </a:prstGeom>
          <a:solidFill>
            <a:srgbClr val="F8F3E1"/>
          </a:solidFill>
          <a:ln w="15240">
            <a:solidFill>
              <a:srgbClr val="DB9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DB9229"/>
                </a:solidFill>
                <a:latin typeface="Aptos"/>
              </a:rPr>
              <a:t>2
config.data
+ exploit_done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828800"/>
            <a:ext cx="1783080" cy="658368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8956"/>
                </a:solidFill>
                <a:latin typeface="Aptos"/>
              </a:rPr>
              <a:t>3
IC runs blogic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45920"/>
            <a:ext cx="1920240" cy="1024128"/>
          </a:xfrm>
          <a:prstGeom prst="roundRect">
            <a:avLst/>
          </a:prstGeom>
          <a:solidFill>
            <a:srgbClr val="F6ECEB"/>
          </a:solidFill>
          <a:ln w="15240">
            <a:solidFill>
              <a:srgbClr val="C7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C74339"/>
                </a:solidFill>
                <a:latin typeface="Aptos"/>
              </a:rPr>
              <a:t>4
success.txt
or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828800"/>
            <a:ext cx="1645920" cy="65836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14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4A3B1"/>
                </a:solidFill>
                <a:latin typeface="Aptos"/>
              </a:rPr>
              <a:t>5
/triage updates
next attempt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157984"/>
            <a:ext cx="54864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2000" y="2157984"/>
            <a:ext cx="59436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2157984"/>
            <a:ext cx="59436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64040" y="2157984"/>
            <a:ext cx="50292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05840" y="3703320"/>
            <a:ext cx="9784080" cy="1097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External Container provides the two entry points: /exploit and /triage.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/exploit writes payload data and signals the Internal Container through /shared.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/triage observes success, crash, or no-success feedback and updates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1F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Function demonstration = show this loop reaching /shared/success.txt.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22237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Perception, action, and feedback are separated.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971800" cy="1005840"/>
          </a:xfrm>
          <a:prstGeom prst="roundRect">
            <a:avLst/>
          </a:prstGeom>
          <a:solidFill>
            <a:srgbClr val="E8F1FC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276FBF"/>
                </a:solidFill>
                <a:latin typeface="Aptos"/>
              </a:rPr>
              <a:t>Target Analyzer
analyze_target.py
ELF metadata / symbols / gadgets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600200"/>
            <a:ext cx="2971800" cy="1005840"/>
          </a:xfrm>
          <a:prstGeom prst="roundRect">
            <a:avLst/>
          </a:prstGeom>
          <a:solidFill>
            <a:srgbClr val="F8F3E1"/>
          </a:solidFill>
          <a:ln w="15240">
            <a:solidFill>
              <a:srgbClr val="DB9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DB9229"/>
                </a:solidFill>
                <a:latin typeface="Aptos"/>
              </a:rPr>
              <a:t>Exploit Generator
/exploit
config.data + exploit_done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600200"/>
            <a:ext cx="2971800" cy="100584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F8956"/>
                </a:solidFill>
                <a:latin typeface="Aptos"/>
              </a:rPr>
              <a:t>Triage Feedback
/triage
success / crash / state update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94760" y="2084831"/>
            <a:ext cx="82296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89520" y="2084831"/>
            <a:ext cx="82296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3730752"/>
            <a:ext cx="192024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0">
                <a:solidFill>
                  <a:srgbClr val="1C2024"/>
                </a:solidFill>
                <a:latin typeface="Aptos"/>
              </a:rPr>
              <a:t>target_info.json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3730752"/>
            <a:ext cx="155448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0">
                <a:solidFill>
                  <a:srgbClr val="1C2024"/>
                </a:solidFill>
                <a:latin typeface="Aptos"/>
              </a:rPr>
              <a:t>config.data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730752"/>
            <a:ext cx="13716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0">
                <a:solidFill>
                  <a:srgbClr val="1C2024"/>
                </a:solidFill>
                <a:latin typeface="Aptos"/>
              </a:rPr>
              <a:t>state.json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730752"/>
            <a:ext cx="150876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0">
                <a:solidFill>
                  <a:srgbClr val="1C2024"/>
                </a:solidFill>
                <a:latin typeface="Aptos"/>
              </a:rPr>
              <a:t>success.txt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The agent is organized as Analyze -&gt; Generate -&gt; Execute -&gt; Observe -&gt; Update.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22237"/>
                </a:solidFill>
                <a:latin typeface="Aptos"/>
              </a:rPr>
              <a:t>Target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The agent extracts facts before payload generation.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074920" cy="2331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Detects target: x86_64 ELF, non-PIE, stack/NX status.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Parses symbols: execute_task, parse_config, user_input, user_input_len.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Finds risky imports: memcpy and system.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Selects preferred ret gadget and writes structured target_info.json.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1353312"/>
            <a:ext cx="4480560" cy="1920240"/>
          </a:xfrm>
          <a:prstGeom prst="roundRect">
            <a:avLst/>
          </a:prstGeom>
          <a:solidFill>
            <a:srgbClr val="121820"/>
          </a:solidFill>
          <a:ln>
            <a:solidFill>
              <a:srgbClr val="37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14A3B1"/>
                </a:solidFill>
                <a:latin typeface="Aptos"/>
              </a:rPr>
              <a:t>target_info.json evidence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execute_task = 0x401415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ret_gadget   = 0x401414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user_input   = 0x404340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user_input_len = 0x404540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3886200"/>
            <a:ext cx="4480560" cy="96012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8956"/>
                </a:solidFill>
                <a:latin typeface="Aptos"/>
              </a:rPr>
              <a:t>Why it matters
execute_task() bridges controlled user_input to maintenance_task(user_input).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1F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The analyzer identifies the helper path that makes the lab success route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22237"/>
                </a:solidFill>
                <a:latin typeface="Aptos"/>
              </a:rPr>
              <a:t>Exploit Generation And Payload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The payload redirects control to a helper already in the lab binary.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4480560" cy="2240280"/>
          </a:xfrm>
          <a:prstGeom prst="roundRect">
            <a:avLst/>
          </a:prstGeom>
          <a:solidFill>
            <a:srgbClr val="121820"/>
          </a:solidFill>
          <a:ln>
            <a:solidFill>
              <a:srgbClr val="37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14A3B1"/>
                </a:solidFill>
                <a:latin typeface="Aptos"/>
              </a:rPr>
              <a:t>payload layout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user_input =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  /backdoor\0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  + padding to offset 104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  + ret gadget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FFFFF"/>
                </a:solidFill>
                <a:latin typeface="Menlo"/>
              </a:rPr>
              <a:t>  + execute_task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417320"/>
            <a:ext cx="1600200" cy="530352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8956"/>
                </a:solidFill>
                <a:latin typeface="Aptos"/>
              </a:rPr>
              <a:t>/backdoor\0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17320"/>
            <a:ext cx="1508760" cy="53035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CE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C2024"/>
                </a:solidFill>
                <a:latin typeface="Aptos"/>
              </a:rPr>
              <a:t>padding
104 bytes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55480" y="1417320"/>
            <a:ext cx="1234440" cy="530352"/>
          </a:xfrm>
          <a:prstGeom prst="roundRect">
            <a:avLst/>
          </a:prstGeom>
          <a:solidFill>
            <a:srgbClr val="EFF4FC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ret
0x401414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788920"/>
            <a:ext cx="2194560" cy="621792"/>
          </a:xfrm>
          <a:prstGeom prst="roundRect">
            <a:avLst/>
          </a:prstGeom>
          <a:solidFill>
            <a:srgbClr val="F8F3E1"/>
          </a:solidFill>
          <a:ln w="15240">
            <a:solidFill>
              <a:srgbClr val="DB9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DB9229"/>
                </a:solidFill>
                <a:latin typeface="Aptos"/>
              </a:rPr>
              <a:t>execute_task
0x401415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788920"/>
            <a:ext cx="2148840" cy="621792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8956"/>
                </a:solidFill>
                <a:latin typeface="Aptos"/>
              </a:rPr>
              <a:t>maintenance_task(user_input)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452360" y="1947672"/>
            <a:ext cx="2423160" cy="841248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49640" y="3099816"/>
            <a:ext cx="548640" cy="0"/>
          </a:xfrm>
          <a:prstGeom prst="line">
            <a:avLst/>
          </a:prstGeom>
          <a:ln w="25400">
            <a:solidFill>
              <a:srgbClr val="27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06440" y="4069080"/>
            <a:ext cx="5394960" cy="1188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  <a:latin typeface="Aptos"/>
              </a:defRPr>
            </a:pPr>
            <a:r>
              <a:t>The command is staged as data in user_input.</a:t>
            </a:r>
          </a:p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  <a:latin typeface="Aptos"/>
              </a:defRPr>
            </a:pPr>
            <a:r>
              <a:t>The return path reaches execute_task after the overflow.</a:t>
            </a:r>
          </a:p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  <a:latin typeface="Aptos"/>
              </a:defRPr>
            </a:pPr>
            <a:r>
              <a:t>execute_task calls maintenance_task(user_input), which calls system(arg).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12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The success path uses controlled data plus an in-binary helper inside a bounded course lab.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22237"/>
                </a:solidFill>
                <a:latin typeface="Aptos"/>
              </a:rPr>
              <a:t>Triage And Adaptive Probing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The system can update its next action from feedback.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325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5B656F"/>
                </a:solidFill>
                <a:latin typeface="Aptos"/>
              </a:rPr>
              <a:t>Round 1
offset 64
no success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1984248"/>
            <a:ext cx="457200" cy="0"/>
          </a:xfrm>
          <a:prstGeom prst="line">
            <a:avLst/>
          </a:prstGeom>
          <a:ln w="25400">
            <a:solidFill>
              <a:srgbClr val="CE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06040" y="1508760"/>
            <a:ext cx="1325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5B656F"/>
                </a:solidFill>
                <a:latin typeface="Aptos"/>
              </a:rPr>
              <a:t>Round 2
offset 72
no success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984248"/>
            <a:ext cx="457200" cy="0"/>
          </a:xfrm>
          <a:prstGeom prst="line">
            <a:avLst/>
          </a:prstGeom>
          <a:ln w="25400">
            <a:solidFill>
              <a:srgbClr val="CE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89120" y="1508760"/>
            <a:ext cx="1325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5B656F"/>
                </a:solidFill>
                <a:latin typeface="Aptos"/>
              </a:rPr>
              <a:t>Round 3
offset 80
no success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0" y="1984248"/>
            <a:ext cx="457200" cy="0"/>
          </a:xfrm>
          <a:prstGeom prst="line">
            <a:avLst/>
          </a:prstGeom>
          <a:ln w="25400">
            <a:solidFill>
              <a:srgbClr val="CE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72200" y="1508760"/>
            <a:ext cx="1325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6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5B656F"/>
                </a:solidFill>
                <a:latin typeface="Aptos"/>
              </a:rPr>
              <a:t>Round 4
offset 88
no success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79" y="1984248"/>
            <a:ext cx="457200" cy="0"/>
          </a:xfrm>
          <a:prstGeom prst="line">
            <a:avLst/>
          </a:prstGeom>
          <a:ln w="25400">
            <a:solidFill>
              <a:srgbClr val="CE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55279" y="1508760"/>
            <a:ext cx="1325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C74339"/>
                </a:solidFill>
                <a:latin typeface="Aptos"/>
              </a:rPr>
              <a:t>Round 5
offset 96
crash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59" y="1984248"/>
            <a:ext cx="457201" cy="0"/>
          </a:xfrm>
          <a:prstGeom prst="line">
            <a:avLst/>
          </a:prstGeom>
          <a:ln w="25400">
            <a:solidFill>
              <a:srgbClr val="CED8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38360" y="1508760"/>
            <a:ext cx="1325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50" b="1">
                <a:solidFill>
                  <a:srgbClr val="1F8956"/>
                </a:solidFill>
                <a:latin typeface="Aptos"/>
              </a:rPr>
              <a:t>Round 6
offset 104
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37560"/>
            <a:ext cx="5212080" cy="1600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024"/>
                </a:solidFill>
                <a:latin typeface="Aptos"/>
              </a:defRPr>
            </a:pPr>
            <a:r>
              <a:t>/triage checks success.txt first.</a:t>
            </a:r>
          </a:p>
          <a:p>
            <a:pPr>
              <a:spcAft>
                <a:spcPts val="800"/>
              </a:spcAft>
              <a:defRPr sz="1700">
                <a:solidFill>
                  <a:srgbClr val="1C2024"/>
                </a:solidFill>
                <a:latin typeface="Aptos"/>
              </a:defRPr>
            </a:pPr>
            <a:r>
              <a:t>If success is absent, it reads crash or no-success feedback.</a:t>
            </a:r>
          </a:p>
          <a:p>
            <a:pPr>
              <a:spcAft>
                <a:spcPts val="800"/>
              </a:spcAft>
              <a:defRPr sz="1700">
                <a:solidFill>
                  <a:srgbClr val="1C2024"/>
                </a:solidFill>
                <a:latin typeface="Aptos"/>
              </a:defRPr>
            </a:pPr>
            <a:r>
              <a:t>Adaptive mode advances candidate offsets within the 60-round limit.</a:t>
            </a:r>
          </a:p>
          <a:p>
            <a:pPr>
              <a:spcAft>
                <a:spcPts val="800"/>
              </a:spcAft>
              <a:defRPr sz="1700">
                <a:solidFill>
                  <a:srgbClr val="1C2024"/>
                </a:solidFill>
                <a:latin typeface="Aptos"/>
              </a:defRPr>
            </a:pPr>
            <a:r>
              <a:t>Fast mode keeps the stable grading path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337560"/>
            <a:ext cx="4069080" cy="100584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F8956"/>
                </a:solidFill>
                <a:latin typeface="Aptos"/>
              </a:rPr>
              <a:t>Autonomy cue
The agent can move from 96 to 104 after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14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Triage turns the assignment loop into a bounded feedback system.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22237"/>
                </a:solidFill>
                <a:latin typeface="Aptos"/>
              </a:rPr>
              <a:t>System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Feature explanation with proof objects.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3063240" cy="8686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Analysis-driven
target_info.json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30632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8956"/>
                </a:solidFill>
                <a:latin typeface="Aptos"/>
              </a:rPr>
              <a:t>State-driven
state.json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59" y="1417320"/>
            <a:ext cx="3063240" cy="8686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14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4A3B1"/>
                </a:solidFill>
                <a:latin typeface="Aptos"/>
              </a:rPr>
              <a:t>Feedback-aware
/triage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34640"/>
            <a:ext cx="30632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9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DB9229"/>
                </a:solidFill>
                <a:latin typeface="Aptos"/>
              </a:rPr>
              <a:t>Bounded lab scope
/shared + lab binaries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834640"/>
            <a:ext cx="3063240" cy="86868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C74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C74339"/>
                </a:solidFill>
                <a:latin typeface="Aptos"/>
              </a:rPr>
              <a:t>Stable grading path
offset 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59" y="2834640"/>
            <a:ext cx="30632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2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22237"/>
                </a:solidFill>
                <a:latin typeface="Aptos"/>
              </a:rPr>
              <a:t>Demo path
adaptive result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27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The features map directly to visible evidence the instructor can inspect.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22237"/>
                </a:solidFill>
                <a:latin typeface="Aptos"/>
              </a:rPr>
              <a:t>Demo / Evidence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Low-risk classroom demonstration path.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353312"/>
            <a:ext cx="3886200" cy="1051560"/>
          </a:xfrm>
          <a:prstGeom prst="roundRect">
            <a:avLst/>
          </a:prstGeom>
          <a:solidFill>
            <a:srgbClr val="121820"/>
          </a:solidFill>
          <a:ln>
            <a:solidFill>
              <a:srgbClr val="37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14A3B1"/>
                </a:solidFill>
                <a:latin typeface="Aptos"/>
              </a:rPr>
              <a:t>evidence/success.txt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Backdoor triggered</a:t>
            </a:r>
          </a:p>
          <a:p>
            <a:pPr>
              <a:spcAft>
                <a:spcPts val="200"/>
              </a:spcAft>
            </a:pPr>
            <a:r>
              <a:rPr sz="1600">
                <a:solidFill>
                  <a:srgbClr val="FFFFFF"/>
                </a:solidFill>
                <a:latin typeface="Menlo"/>
              </a:rPr>
              <a:t>Fri May 22 16:50:15 UTC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353312"/>
            <a:ext cx="6080760" cy="1600200"/>
          </a:xfrm>
          <a:prstGeom prst="roundRect">
            <a:avLst/>
          </a:prstGeom>
          <a:solidFill>
            <a:srgbClr val="121820"/>
          </a:solidFill>
          <a:ln>
            <a:solidFill>
              <a:srgbClr val="37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>
              <a:spcAft>
                <a:spcPts val="700"/>
              </a:spcAft>
            </a:pPr>
            <a:r>
              <a:rPr sz="1000" b="1">
                <a:solidFill>
                  <a:srgbClr val="14A3B1"/>
                </a:solidFill>
                <a:latin typeface="Aptos"/>
              </a:rPr>
              <a:t>evidence/exploit-log.txt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[+] Selected execute_task: 0x401415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[+] Selected ret gadget: 0x401414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[*] Using offset_to_ret: 104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FFFFFF"/>
                </a:solidFill>
                <a:latin typeface="Menlo"/>
              </a:rPr>
              <a:t>[+] Created /shared/exploit_done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983480" cy="1325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  <a:latin typeface="Aptos"/>
              </a:defRPr>
            </a:pPr>
            <a:r>
              <a:t>Open success.txt to show the grading condition.</a:t>
            </a:r>
          </a:p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  <a:latin typeface="Aptos"/>
              </a:defRPr>
            </a:pPr>
            <a:r>
              <a:t>Open exploit-log.txt to show analyze -&gt; payload -&gt; signal.</a:t>
            </a:r>
          </a:p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  <a:latin typeface="Aptos"/>
              </a:defRPr>
            </a:pPr>
            <a:r>
              <a:t>Open target_info.json for execute_task and ret_gadget.</a:t>
            </a:r>
          </a:p>
          <a:p>
            <a:pPr>
              <a:spcAft>
                <a:spcPts val="800"/>
              </a:spcAft>
              <a:defRPr sz="1600">
                <a:solidFill>
                  <a:srgbClr val="1C2024"/>
                </a:solidFill>
                <a:latin typeface="Aptos"/>
              </a:defRPr>
            </a:pPr>
            <a:r>
              <a:t>Use the payload-flow slide as the conceptual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3749039"/>
            <a:ext cx="4434840" cy="1005840"/>
          </a:xfrm>
          <a:prstGeom prst="roundRect">
            <a:avLst/>
          </a:prstGeom>
          <a:solidFill>
            <a:srgbClr val="F8F3E1"/>
          </a:solidFill>
          <a:ln w="15240">
            <a:solidFill>
              <a:srgbClr val="DB9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DB9229"/>
                </a:solidFill>
                <a:latin typeface="Aptos"/>
              </a:rPr>
              <a:t>Live Docker option
Use only when images are warm and the command sequence passed before class.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1F8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Default demo: deterministic evidence first, short live run only when 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2600" b="1">
                <a:solidFill>
                  <a:srgbClr val="122237"/>
                </a:solidFill>
                <a:latin typeface="Aptos"/>
              </a:rPr>
              <a:t>Conclusion And Limitation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955279" cy="32004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l"/>
            <a:r>
              <a:rPr sz="1050" b="0">
                <a:solidFill>
                  <a:srgbClr val="5B656F"/>
                </a:solidFill>
                <a:latin typeface="Aptos"/>
              </a:rPr>
              <a:t>Result, scope, and evidence boundary.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CED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3246120" cy="914400"/>
          </a:xfrm>
          <a:prstGeom prst="roundRect">
            <a:avLst/>
          </a:prstGeom>
          <a:solidFill>
            <a:srgbClr val="E8F1FC"/>
          </a:solidFill>
          <a:ln w="15240"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Interface satisfied
/exploit, /triage, config.data, exploit_done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46120" cy="91440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1F8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1F8956"/>
                </a:solidFill>
                <a:latin typeface="Aptos"/>
              </a:rPr>
              <a:t>Success evidence
/shared/success.txt appears in saved run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3246120" cy="914400"/>
          </a:xfrm>
          <a:prstGeom prst="roundRect">
            <a:avLst/>
          </a:prstGeom>
          <a:solidFill>
            <a:srgbClr val="F8F3E1"/>
          </a:solidFill>
          <a:ln w="15240">
            <a:solidFill>
              <a:srgbClr val="DB92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500" b="1">
                <a:solidFill>
                  <a:srgbClr val="DB9229"/>
                </a:solidFill>
                <a:latin typeface="Aptos"/>
              </a:rPr>
              <a:t>Lab boundary
Course binary context and shared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10241280" cy="12344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The key technical point is execute_task(): controlled user_input reaches the /backdoor execution path.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The system demonstrates analysis, payload generation, triage feedback, and saved success evidence.</a:t>
            </a:r>
          </a:p>
          <a:p>
            <a:pPr>
              <a:spcAft>
                <a:spcPts val="800"/>
              </a:spcAft>
              <a:defRPr sz="1800">
                <a:solidFill>
                  <a:srgbClr val="1C2024"/>
                </a:solidFill>
                <a:latin typeface="Aptos"/>
              </a:defRPr>
            </a:pPr>
            <a:r>
              <a:t>The claim is tied to this package and this course-lab binary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806440"/>
            <a:ext cx="10881360" cy="438912"/>
          </a:xfrm>
          <a:prstGeom prst="roundRect">
            <a:avLst/>
          </a:prstGeom>
          <a:solidFill>
            <a:srgbClr val="12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Our Project II result is a bounded, evidence-backed autonomous agent for the course lab.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6419088"/>
            <a:ext cx="2377440" cy="228600"/>
          </a:xfrm>
          <a:prstGeom prst="rect">
            <a:avLst/>
          </a:prstGeom>
          <a:noFill/>
        </p:spPr>
        <p:txBody>
          <a:bodyPr wrap="square" lIns="54864" rIns="54864" tIns="36576" bIns="36576">
            <a:spAutoFit/>
          </a:bodyPr>
          <a:lstStyle/>
          <a:p>
            <a:pPr algn="r"/>
            <a:r>
              <a:rPr sz="850" b="0">
                <a:solidFill>
                  <a:srgbClr val="5B656F"/>
                </a:solidFill>
                <a:latin typeface="Aptos"/>
              </a:rPr>
              <a:t>Project II - Autonomous APT Agent |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